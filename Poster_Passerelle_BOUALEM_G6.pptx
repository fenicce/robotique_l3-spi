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691813" cy="15119350"/>
  <p:notesSz cx="6858000" cy="9144000"/>
  <p:defaultTextStyle>
    <a:defPPr>
      <a:defRPr lang="fr-FR"/>
    </a:defPPr>
    <a:lvl1pPr marL="0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1pPr>
    <a:lvl2pPr marL="526740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2pPr>
    <a:lvl3pPr marL="1053480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3pPr>
    <a:lvl4pPr marL="1580220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4pPr>
    <a:lvl5pPr marL="2106960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5pPr>
    <a:lvl6pPr marL="2633701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6pPr>
    <a:lvl7pPr marL="3160441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7pPr>
    <a:lvl8pPr marL="3687181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8pPr>
    <a:lvl9pPr marL="4213921" algn="l" defTabSz="1053480" rtl="0" eaLnBrk="1" latinLnBrk="0" hangingPunct="1">
      <a:defRPr sz="20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62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3D67"/>
    <a:srgbClr val="FFBC00"/>
    <a:srgbClr val="00B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1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66" y="-6768"/>
      </p:cViewPr>
      <p:guideLst>
        <p:guide orient="horz" pos="4762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15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57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6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54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3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83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82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129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30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27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7730F556-2755-4B00-8F8D-795F4F1EF4A8}" type="datetimeFigureOut">
              <a:rPr lang="fr-FR" smtClean="0"/>
              <a:t>19/05/2026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/>
          <a:lstStyle/>
          <a:p>
            <a:fld id="{184384F0-0FB2-41F5-AE59-E5B6D5537A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1516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pic>
        <p:nvPicPr>
          <p:cNvPr id="9" name="Image 8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66AE31AF-5F70-011D-6C29-21BB843BCC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77"/>
          <a:stretch/>
        </p:blipFill>
        <p:spPr>
          <a:xfrm>
            <a:off x="1" y="14843760"/>
            <a:ext cx="10691813" cy="27559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0" t="26322" r="13250" b="25201"/>
          <a:stretch/>
        </p:blipFill>
        <p:spPr>
          <a:xfrm>
            <a:off x="5569497" y="13764857"/>
            <a:ext cx="5013960" cy="114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8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rgbClr val="0A3D67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rgbClr val="0A3D67"/>
          </a:solidFill>
          <a:latin typeface="Arial Narrow" panose="020B0606020202030204" pitchFamily="34" charset="0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rgbClr val="0A3D67"/>
          </a:solidFill>
          <a:latin typeface="Arial Narrow" panose="020B0606020202030204" pitchFamily="34" charset="0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rgbClr val="0A3D67"/>
          </a:solidFill>
          <a:latin typeface="Arial Narrow" panose="020B0606020202030204" pitchFamily="34" charset="0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rgbClr val="0A3D67"/>
          </a:solidFill>
          <a:latin typeface="Arial Narrow" panose="020B0606020202030204" pitchFamily="34" charset="0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rgbClr val="0A3D67"/>
          </a:solidFill>
          <a:latin typeface="Arial Narrow" panose="020B0606020202030204" pitchFamily="34" charset="0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304800" y="251012"/>
            <a:ext cx="101839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0A3D67"/>
                </a:solidFill>
                <a:latin typeface="Arial Narrow"/>
              </a:rPr>
              <a:t>Passerelle treillis Warren — franchissement d'une portée de 780 mm</a:t>
            </a:r>
          </a:p>
          <a:p>
            <a:pPr algn="ctr"/>
            <a:r>
              <a:rPr sz="1600" b="1">
                <a:solidFill>
                  <a:srgbClr val="0A3D67"/>
                </a:solidFill>
                <a:latin typeface="Arial Narrow"/>
              </a:rPr>
              <a:t>BOUALEM Salim   •   Génie Mécanique   •   Groupe 6</a:t>
            </a:r>
          </a:p>
        </p:txBody>
      </p:sp>
      <p:grpSp>
        <p:nvGrpSpPr>
          <p:cNvPr id="28" name="Groupe 27"/>
          <p:cNvGrpSpPr/>
          <p:nvPr/>
        </p:nvGrpSpPr>
        <p:grpSpPr>
          <a:xfrm>
            <a:off x="3489960" y="1330362"/>
            <a:ext cx="6998746" cy="4317403"/>
            <a:chOff x="3489960" y="1330362"/>
            <a:chExt cx="6998746" cy="4317403"/>
          </a:xfrm>
        </p:grpSpPr>
        <p:sp>
          <p:nvSpPr>
            <p:cNvPr id="7" name="Rectangle à coins arrondis 6"/>
            <p:cNvSpPr/>
            <p:nvPr/>
          </p:nvSpPr>
          <p:spPr>
            <a:xfrm>
              <a:off x="3489960" y="1330362"/>
              <a:ext cx="6998746" cy="4317403"/>
            </a:xfrm>
            <a:prstGeom prst="roundRect">
              <a:avLst>
                <a:gd name="adj" fmla="val 3044"/>
              </a:avLst>
            </a:prstGeom>
            <a:noFill/>
            <a:ln w="19050"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fr-FR" dirty="0" smtClean="0">
                <a:solidFill>
                  <a:srgbClr val="0A3D67"/>
                </a:solidFill>
              </a:endParaRPr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3489960" y="1330362"/>
              <a:ext cx="6998746" cy="393999"/>
            </a:xfrm>
            <a:prstGeom prst="roundRect">
              <a:avLst>
                <a:gd name="adj" fmla="val 31015"/>
              </a:avLst>
            </a:prstGeom>
            <a:solidFill>
              <a:srgbClr val="0A3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2. Conception et modélisation</a:t>
              </a:r>
              <a:endParaRPr lang="fr-FR" sz="18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6" name="Groupe 25"/>
          <p:cNvGrpSpPr/>
          <p:nvPr/>
        </p:nvGrpSpPr>
        <p:grpSpPr>
          <a:xfrm>
            <a:off x="304800" y="1308570"/>
            <a:ext cx="3035299" cy="1503210"/>
            <a:chOff x="304800" y="1308570"/>
            <a:chExt cx="3035299" cy="1503210"/>
          </a:xfrm>
        </p:grpSpPr>
        <p:sp>
          <p:nvSpPr>
            <p:cNvPr id="14" name="Rectangle à coins arrondis 13"/>
            <p:cNvSpPr/>
            <p:nvPr/>
          </p:nvSpPr>
          <p:spPr>
            <a:xfrm>
              <a:off x="304800" y="1308570"/>
              <a:ext cx="3035299" cy="393999"/>
            </a:xfrm>
            <a:prstGeom prst="roundRect">
              <a:avLst>
                <a:gd name="adj" fmla="val 31015"/>
              </a:avLst>
            </a:prstGeom>
            <a:solidFill>
              <a:srgbClr val="0A3D67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Mots-clés</a:t>
              </a:r>
              <a:endParaRPr lang="fr-FR" sz="18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3" name="Rectangle à coins arrondis 12"/>
            <p:cNvSpPr/>
            <p:nvPr/>
          </p:nvSpPr>
          <p:spPr>
            <a:xfrm>
              <a:off x="304800" y="1308570"/>
              <a:ext cx="3035299" cy="1503210"/>
            </a:xfrm>
            <a:prstGeom prst="roundRect">
              <a:avLst>
                <a:gd name="adj" fmla="val 8071"/>
              </a:avLst>
            </a:prstGeom>
            <a:noFill/>
            <a:ln w="19050"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fr-FR" dirty="0" smtClean="0">
                <a:solidFill>
                  <a:srgbClr val="0A3D67"/>
                </a:solidFill>
              </a:endParaRPr>
            </a:p>
          </p:txBody>
        </p:sp>
      </p:grpSp>
      <p:grpSp>
        <p:nvGrpSpPr>
          <p:cNvPr id="29" name="Groupe 28"/>
          <p:cNvGrpSpPr/>
          <p:nvPr/>
        </p:nvGrpSpPr>
        <p:grpSpPr>
          <a:xfrm>
            <a:off x="304800" y="5755407"/>
            <a:ext cx="10183906" cy="5623793"/>
            <a:chOff x="304800" y="5755407"/>
            <a:chExt cx="10183906" cy="5623793"/>
          </a:xfrm>
        </p:grpSpPr>
        <p:sp>
          <p:nvSpPr>
            <p:cNvPr id="16" name="Rectangle à coins arrondis 15"/>
            <p:cNvSpPr/>
            <p:nvPr/>
          </p:nvSpPr>
          <p:spPr>
            <a:xfrm>
              <a:off x="304800" y="5755407"/>
              <a:ext cx="10183906" cy="5623793"/>
            </a:xfrm>
            <a:prstGeom prst="roundRect">
              <a:avLst>
                <a:gd name="adj" fmla="val 2625"/>
              </a:avLst>
            </a:prstGeom>
            <a:noFill/>
            <a:ln w="19050"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fr-FR" dirty="0" smtClean="0">
                <a:solidFill>
                  <a:srgbClr val="0A3D67"/>
                </a:solidFill>
              </a:endParaRPr>
            </a:p>
          </p:txBody>
        </p:sp>
        <p:sp>
          <p:nvSpPr>
            <p:cNvPr id="17" name="Rectangle à coins arrondis 16"/>
            <p:cNvSpPr/>
            <p:nvPr/>
          </p:nvSpPr>
          <p:spPr>
            <a:xfrm>
              <a:off x="304800" y="5755407"/>
              <a:ext cx="10183906" cy="393999"/>
            </a:xfrm>
            <a:prstGeom prst="roundRect">
              <a:avLst>
                <a:gd name="adj" fmla="val 31015"/>
              </a:avLst>
            </a:prstGeom>
            <a:solidFill>
              <a:srgbClr val="0A3D67"/>
            </a:solidFill>
            <a:ln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3. Développements et </a:t>
              </a:r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mise en œuvre</a:t>
              </a:r>
              <a:endParaRPr lang="fr-FR" sz="18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304800" y="2907127"/>
            <a:ext cx="3041648" cy="2722656"/>
            <a:chOff x="304800" y="2907127"/>
            <a:chExt cx="3041648" cy="2722656"/>
          </a:xfrm>
        </p:grpSpPr>
        <p:sp>
          <p:nvSpPr>
            <p:cNvPr id="20" name="Rectangle à coins arrondis 19"/>
            <p:cNvSpPr/>
            <p:nvPr/>
          </p:nvSpPr>
          <p:spPr>
            <a:xfrm>
              <a:off x="304800" y="2914650"/>
              <a:ext cx="3035299" cy="2715133"/>
            </a:xfrm>
            <a:prstGeom prst="roundRect">
              <a:avLst>
                <a:gd name="adj" fmla="val 5030"/>
              </a:avLst>
            </a:prstGeom>
            <a:noFill/>
            <a:ln w="19050"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fr-FR" dirty="0" smtClean="0">
                <a:solidFill>
                  <a:srgbClr val="0A3D67"/>
                </a:solidFill>
              </a:endParaRPr>
            </a:p>
          </p:txBody>
        </p:sp>
        <p:sp>
          <p:nvSpPr>
            <p:cNvPr id="21" name="Rectangle à coins arrondis 20"/>
            <p:cNvSpPr/>
            <p:nvPr/>
          </p:nvSpPr>
          <p:spPr>
            <a:xfrm>
              <a:off x="311149" y="2907127"/>
              <a:ext cx="3035299" cy="393999"/>
            </a:xfrm>
            <a:prstGeom prst="roundRect">
              <a:avLst>
                <a:gd name="adj" fmla="val 31015"/>
              </a:avLst>
            </a:prstGeom>
            <a:solidFill>
              <a:srgbClr val="0A3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1.Objectifs et spécifications</a:t>
              </a:r>
              <a:endParaRPr lang="fr-FR" sz="18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30" name="Groupe 29"/>
          <p:cNvGrpSpPr/>
          <p:nvPr/>
        </p:nvGrpSpPr>
        <p:grpSpPr>
          <a:xfrm>
            <a:off x="298451" y="11497301"/>
            <a:ext cx="5251449" cy="3247399"/>
            <a:chOff x="298451" y="11497301"/>
            <a:chExt cx="5251449" cy="3247399"/>
          </a:xfrm>
        </p:grpSpPr>
        <p:sp>
          <p:nvSpPr>
            <p:cNvPr id="22" name="Rectangle à coins arrondis 21"/>
            <p:cNvSpPr/>
            <p:nvPr/>
          </p:nvSpPr>
          <p:spPr>
            <a:xfrm>
              <a:off x="298451" y="11504824"/>
              <a:ext cx="5251449" cy="3239876"/>
            </a:xfrm>
            <a:prstGeom prst="roundRect">
              <a:avLst>
                <a:gd name="adj" fmla="val 4315"/>
              </a:avLst>
            </a:prstGeom>
            <a:noFill/>
            <a:ln w="19050"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fr-FR" dirty="0" smtClean="0">
                <a:solidFill>
                  <a:srgbClr val="0A3D67"/>
                </a:solidFill>
              </a:endParaRPr>
            </a:p>
          </p:txBody>
        </p:sp>
        <p:sp>
          <p:nvSpPr>
            <p:cNvPr id="23" name="Rectangle à coins arrondis 22"/>
            <p:cNvSpPr/>
            <p:nvPr/>
          </p:nvSpPr>
          <p:spPr>
            <a:xfrm>
              <a:off x="304800" y="11497301"/>
              <a:ext cx="5245100" cy="393999"/>
            </a:xfrm>
            <a:prstGeom prst="roundRect">
              <a:avLst>
                <a:gd name="adj" fmla="val 37058"/>
              </a:avLst>
            </a:prstGeom>
            <a:solidFill>
              <a:srgbClr val="0A3D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4. </a:t>
              </a:r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Etat d’avancement et/ou Résultat</a:t>
              </a:r>
              <a:endParaRPr lang="fr-FR" sz="18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5740400" y="11504823"/>
            <a:ext cx="4748306" cy="2328657"/>
            <a:chOff x="5740400" y="11504823"/>
            <a:chExt cx="4748306" cy="2328657"/>
          </a:xfrm>
        </p:grpSpPr>
        <p:sp>
          <p:nvSpPr>
            <p:cNvPr id="24" name="Rectangle à coins arrondis 23"/>
            <p:cNvSpPr/>
            <p:nvPr/>
          </p:nvSpPr>
          <p:spPr>
            <a:xfrm>
              <a:off x="5740400" y="11504824"/>
              <a:ext cx="4748306" cy="393999"/>
            </a:xfrm>
            <a:prstGeom prst="roundRect">
              <a:avLst>
                <a:gd name="adj" fmla="val 31015"/>
              </a:avLst>
            </a:prstGeom>
            <a:solidFill>
              <a:srgbClr val="0A3D67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r>
                <a:rPr lang="fr-FR" sz="1800" dirty="0" smtClean="0">
                  <a:solidFill>
                    <a:schemeClr val="bg1"/>
                  </a:solidFill>
                  <a:latin typeface="Arial Narrow" panose="020B0606020202030204" pitchFamily="34" charset="0"/>
                </a:rPr>
                <a:t>Compétences acquises</a:t>
              </a:r>
              <a:endParaRPr lang="fr-FR" sz="18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25" name="Rectangle à coins arrondis 24"/>
            <p:cNvSpPr/>
            <p:nvPr/>
          </p:nvSpPr>
          <p:spPr>
            <a:xfrm>
              <a:off x="5740400" y="11504823"/>
              <a:ext cx="4748306" cy="2328657"/>
            </a:xfrm>
            <a:prstGeom prst="roundRect">
              <a:avLst>
                <a:gd name="adj" fmla="val 6162"/>
              </a:avLst>
            </a:prstGeom>
            <a:noFill/>
            <a:ln w="19050">
              <a:solidFill>
                <a:srgbClr val="0A3D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fr-FR" dirty="0" smtClean="0">
                <a:solidFill>
                  <a:srgbClr val="0A3D67"/>
                </a:solidFill>
              </a:endParaRPr>
            </a:p>
          </p:txBody>
        </p:sp>
      </p:grpSp>
      <p:pic>
        <p:nvPicPr>
          <p:cNvPr id="37" name="Picture 36" descr="photo_painte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263640"/>
            <a:ext cx="3931920" cy="2423160"/>
          </a:xfrm>
          <a:prstGeom prst="rect">
            <a:avLst/>
          </a:prstGeom>
        </p:spPr>
      </p:pic>
      <p:pic>
        <p:nvPicPr>
          <p:cNvPr id="38" name="Picture 37" descr="photo_tes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8778240"/>
            <a:ext cx="3931920" cy="21031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92240" y="8686800"/>
            <a:ext cx="3931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B5563"/>
                </a:solidFill>
                <a:latin typeface="Arial"/>
              </a:rPr>
              <a:t>Passerelle réalisée (finition peinture)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0899648"/>
            <a:ext cx="3931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B5563"/>
                </a:solidFill>
                <a:latin typeface="Arial"/>
              </a:rPr>
              <a:t>Test sous charge — masse suspendue 3,25 kg (≈ 32 N), tenue confirmée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11951208"/>
            <a:ext cx="2743200" cy="2743200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A3D67"/>
                </a:solidFill>
                <a:latin typeface="Arial"/>
              </a:rPr>
              <a:t>Simulation RDM6 (à 150 N)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3D : σ_max = 17,24 MPa  ·  d_max = 0,717 mm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2D : σ_max = 16,94 MPa  ·  d_max = 0,622 mm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Modèles 2D/3D cohérents → forme validée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A3D67"/>
                </a:solidFill>
                <a:latin typeface="Arial"/>
              </a:rPr>
              <a:t>Tests physiques avant concours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Charge appliquée : 3,25 kg ≈ 32 N · répété 2 fois</a:t>
            </a:r>
          </a:p>
          <a:p>
            <a:pPr algn="l">
              <a:spcAft>
                <a:spcPts val="10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Tenue confirmée sans déformation visible</a:t>
            </a:r>
          </a:p>
          <a:p>
            <a:pPr algn="l">
              <a:spcAft>
                <a:spcPts val="300"/>
              </a:spcAft>
            </a:pPr>
            <a:r>
              <a:rPr sz="1000" i="1">
                <a:solidFill>
                  <a:srgbClr val="1F2937"/>
                </a:solidFill>
                <a:latin typeface="Arial"/>
              </a:rPr>
              <a:t>Choix de ne pas pousser à la rupture avant le concours du jeudi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A3D67"/>
                </a:solidFill>
                <a:latin typeface="Arial"/>
              </a:rPr>
              <a:t>Indices de performance calculés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2410C"/>
                </a:solidFill>
                <a:latin typeface="Arial"/>
              </a:rPr>
              <a:t>k = 0,000620   ·   r = 0,00667</a:t>
            </a:r>
          </a:p>
          <a:p>
            <a:pPr algn="l">
              <a:spcAft>
                <a:spcPts val="300"/>
              </a:spcAft>
            </a:pPr>
            <a:r>
              <a:rPr sz="1000" i="1">
                <a:solidFill>
                  <a:srgbClr val="1F2937"/>
                </a:solidFill>
                <a:latin typeface="Arial"/>
              </a:rPr>
              <a:t>Tous les objectifs initiaux respectés</a:t>
            </a:r>
          </a:p>
        </p:txBody>
      </p:sp>
      <p:pic>
        <p:nvPicPr>
          <p:cNvPr id="42" name="Picture 41" descr="results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1887200"/>
            <a:ext cx="2423160" cy="21945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52160" y="11960352"/>
            <a:ext cx="4526280" cy="1828799"/>
          </a:xfrm>
          <a:prstGeom prst="rect">
            <a:avLst/>
          </a:prstGeom>
          <a:noFill/>
        </p:spPr>
        <p:txBody>
          <a:bodyPr wrap="square" lIns="50000" rIns="50000" tIns="30000" bIns="3000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Modélisation numérique RDM6 (2D / 3D)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Résistance des matériaux appliquée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Conception structurale et choix de renforts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Fabrication précise (collage, gabarit)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Validation expérimentale et instrumentation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Analyse critique modèle / réalité</a:t>
            </a:r>
          </a:p>
          <a:p>
            <a:pPr algn="l">
              <a:spcAft>
                <a:spcPts val="100"/>
              </a:spcAft>
            </a:pPr>
            <a:r>
              <a:rPr sz="1050">
                <a:solidFill>
                  <a:srgbClr val="1F2937"/>
                </a:solidFill>
                <a:latin typeface="Arial"/>
              </a:rPr>
              <a:t>▸  Travail en groupe de projet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1783080"/>
            <a:ext cx="2834640" cy="100584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>
              <a:spcAft>
                <a:spcPts val="5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Treillis Warren</a:t>
            </a:r>
          </a:p>
          <a:p>
            <a:pPr algn="l">
              <a:spcAft>
                <a:spcPts val="5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Bâtonnets de bois</a:t>
            </a:r>
          </a:p>
          <a:p>
            <a:pPr algn="l">
              <a:spcAft>
                <a:spcPts val="5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Simulation RDM6</a:t>
            </a:r>
          </a:p>
          <a:p>
            <a:pPr algn="l">
              <a:spcAft>
                <a:spcPts val="5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Optimisation masse / rigidité</a:t>
            </a:r>
          </a:p>
          <a:p>
            <a:pPr algn="l">
              <a:spcAft>
                <a:spcPts val="5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Doublage des longerons</a:t>
            </a:r>
          </a:p>
          <a:p>
            <a:pPr algn="l">
              <a:spcAft>
                <a:spcPts val="50"/>
              </a:spcAft>
            </a:pPr>
            <a:r>
              <a:rPr sz="1000">
                <a:solidFill>
                  <a:srgbClr val="1F2937"/>
                </a:solidFill>
                <a:latin typeface="Arial"/>
              </a:rPr>
              <a:t>▸  Renforcement ciblé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3383280"/>
            <a:ext cx="2834640" cy="2240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>
                <a:solidFill>
                  <a:srgbClr val="0A3D67"/>
                </a:solidFill>
                <a:latin typeface="Arial"/>
              </a:rPr>
              <a:t>Problématique</a:t>
            </a:r>
          </a:p>
          <a:p>
            <a:pPr algn="l">
              <a:spcAft>
                <a:spcPts val="50"/>
              </a:spcAft>
            </a:pPr>
            <a:r>
              <a:rPr sz="950">
                <a:solidFill>
                  <a:srgbClr val="1F2937"/>
                </a:solidFill>
                <a:latin typeface="Arial"/>
              </a:rPr>
              <a:t>▸  Robot franchissant une zone sans chute ni déformation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>
                <a:solidFill>
                  <a:srgbClr val="0A3D67"/>
                </a:solidFill>
                <a:latin typeface="Arial"/>
              </a:rPr>
              <a:t>Objectifs</a:t>
            </a:r>
          </a:p>
          <a:p>
            <a:pPr algn="l">
              <a:spcAft>
                <a:spcPts val="50"/>
              </a:spcAft>
            </a:pPr>
            <a:r>
              <a:rPr sz="950">
                <a:solidFill>
                  <a:srgbClr val="1F2937"/>
                </a:solidFill>
                <a:latin typeface="Arial"/>
              </a:rPr>
              <a:t>▸  Rigidité  ·  Résistance (≤150 N)  ·  Légèreté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>
                <a:solidFill>
                  <a:srgbClr val="0A3D67"/>
                </a:solidFill>
                <a:latin typeface="Arial"/>
              </a:rPr>
              <a:t>Contraintes</a:t>
            </a:r>
          </a:p>
          <a:p>
            <a:pPr algn="l">
              <a:spcAft>
                <a:spcPts val="50"/>
              </a:spcAft>
            </a:pPr>
            <a:r>
              <a:rPr sz="950">
                <a:solidFill>
                  <a:srgbClr val="1F2937"/>
                </a:solidFill>
                <a:latin typeface="Arial"/>
              </a:rPr>
              <a:t>▸  Longueur 900 mm  ·  portée libre 780 mm</a:t>
            </a:r>
          </a:p>
          <a:p>
            <a:pPr algn="l">
              <a:spcAft>
                <a:spcPts val="50"/>
              </a:spcAft>
            </a:pPr>
            <a:r>
              <a:rPr sz="950">
                <a:solidFill>
                  <a:srgbClr val="1F2937"/>
                </a:solidFill>
                <a:latin typeface="Arial"/>
              </a:rPr>
              <a:t>▸  Max 150 bâtonnets (114×10×2 mm · 1,3 g)</a:t>
            </a:r>
          </a:p>
          <a:p>
            <a:pPr algn="l">
              <a:spcAft>
                <a:spcPts val="50"/>
              </a:spcAft>
            </a:pPr>
            <a:r>
              <a:rPr sz="950">
                <a:solidFill>
                  <a:srgbClr val="1F2937"/>
                </a:solidFill>
                <a:latin typeface="Arial"/>
              </a:rPr>
              <a:t>▸  Charge centrée 15 N puis 15 → 150 N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000" b="1">
                <a:solidFill>
                  <a:srgbClr val="0A3D67"/>
                </a:solidFill>
                <a:latin typeface="Arial"/>
              </a:rPr>
              <a:t>Indices de performance</a:t>
            </a:r>
          </a:p>
          <a:p>
            <a:pPr algn="l">
              <a:spcAft>
                <a:spcPts val="50"/>
              </a:spcAft>
            </a:pPr>
            <a:r>
              <a:rPr sz="950">
                <a:solidFill>
                  <a:srgbClr val="1F2937"/>
                </a:solidFill>
                <a:latin typeface="Arial"/>
              </a:rPr>
              <a:t>▸  k = m² / (d · M²)   r = F · m² / M²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2736" y="1783080"/>
            <a:ext cx="6775704" cy="224028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Choix structurel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Treillis Warren à 2 poutres latérales, triangles isocèles inversés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8 modules de 112,5 mm  ·  H ≈ 99 mm  ·  largeur entre poutres 220 mm  ·  diagonales = bâtonnets entiers (114 mm)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Stratégie de renforcement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Doublage des longerons (collage de 2 bâtonnets) — raideur en flexion × 8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Doublage partiel des diagonales aux zones les plus sollicitées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Renforcement aux appuis et au centre (zones critiques identifiées en simulation)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Barres transversales entre les 2 poutres → blocage du flambement latéral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Simulation RDM6 — 2D et 3D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Validation de la forme et identification des zones sollicitées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Charge appliquée : −75 N (2D) et −75 N + −75 N = −150 N (3D)</a:t>
            </a:r>
          </a:p>
        </p:txBody>
      </p:sp>
      <p:pic>
        <p:nvPicPr>
          <p:cNvPr id="47" name="Picture 46" descr="rdm6_3d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736" y="4069080"/>
            <a:ext cx="6775704" cy="1554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602736" y="5577840"/>
            <a:ext cx="677570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B5563"/>
                </a:solidFill>
                <a:latin typeface="Arial"/>
              </a:rPr>
              <a:t>Simulation RDM6 — modèle 3D sous charge centrée 150 N (déplacement maximal observé)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63640"/>
            <a:ext cx="5943600" cy="5029200"/>
          </a:xfrm>
          <a:prstGeom prst="rect">
            <a:avLst/>
          </a:prstGeom>
          <a:noFill/>
        </p:spPr>
        <p:txBody>
          <a:bodyPr wrap="square" lIns="50000" rIns="50000" tIns="20000" bIns="20000">
            <a:spAutoFit/>
          </a:bodyPr>
          <a:lstStyle/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Étapes de fabrication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Disposition des bâtonnets directement sur la table de travail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Coupe à la lame de quelques bâtonnets pour ajuster certaines longueurs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Collage des éléments au pistolet à colle thermofusible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Superposition (doublage) des longerons et des zones critiques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Assemblage des deux poutres latérales puis liaison par traverses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Finition : peinture noire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Choix techniques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Renforcement prioritaire des zones critiques (centre + appuis)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Limitation de la masse inutile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Alignement des jonctions diagonales–cordes–traverses aux nœuds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Largeur réduite par rapport à la bande de roulage pour gagner en rigidité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Outils et logiciels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Modélisation : RDM6 (2D + 3D)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Fabrication : pistolet à colle thermofusible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Banc d'essai : pince et masses calibrées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150" b="1">
                <a:solidFill>
                  <a:srgbClr val="0A3D67"/>
                </a:solidFill>
                <a:latin typeface="Arial"/>
              </a:rPr>
              <a:t>Difficultés rencontrées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Précision des joints aux nœuds</a:t>
            </a:r>
          </a:p>
          <a:p>
            <a:pPr algn="l">
              <a:spcAft>
                <a:spcPts val="50"/>
              </a:spcAft>
            </a:pPr>
            <a:r>
              <a:rPr sz="1100">
                <a:solidFill>
                  <a:srgbClr val="1F2937"/>
                </a:solidFill>
                <a:latin typeface="Arial"/>
              </a:rPr>
              <a:t>▸  Évolutions vs modèle initial : ajout de verticaux et contreventement transversal</a:t>
            </a:r>
          </a:p>
          <a:p>
            <a:pPr algn="l">
              <a:spcAft>
                <a:spcPts val="50"/>
              </a:spcAft>
            </a:pPr>
            <a:r>
              <a:rPr sz="1000">
                <a:solidFill>
                  <a:srgbClr val="4B5563"/>
                </a:solidFill>
                <a:latin typeface="Arial"/>
              </a:rPr>
              <a:t>       • Non modélisés dans RDM6 mais améliorent la rigidité réelle → sécurité accrue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C2410C"/>
                </a:solidFill>
                <a:latin typeface="Arial"/>
              </a:rPr>
              <a:t>150 bâtonnets utilisés (stock complet)  ·  masse théorique 195 g</a:t>
            </a:r>
          </a:p>
        </p:txBody>
      </p:sp>
    </p:spTree>
    <p:extLst>
      <p:ext uri="{BB962C8B-B14F-4D97-AF65-F5344CB8AC3E}">
        <p14:creationId xmlns:p14="http://schemas.microsoft.com/office/powerpoint/2010/main" val="5806202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35</Words>
  <Application>Microsoft Office PowerPoint</Application>
  <PresentationFormat>Personnalisé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Thème Office</vt:lpstr>
      <vt:lpstr>Présentation PowerPoint</vt:lpstr>
    </vt:vector>
  </TitlesOfParts>
  <Company>UEVE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Elisabeth Connessons</dc:creator>
  <cp:lastModifiedBy>Elisabeth Connessons</cp:lastModifiedBy>
  <cp:revision>10</cp:revision>
  <dcterms:created xsi:type="dcterms:W3CDTF">2026-05-12T13:01:30Z</dcterms:created>
  <dcterms:modified xsi:type="dcterms:W3CDTF">2026-05-19T07:03:16Z</dcterms:modified>
</cp:coreProperties>
</file>